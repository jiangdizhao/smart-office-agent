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7" r:id="rId2"/>
    <p:sldId id="264" r:id="rId3"/>
    <p:sldId id="272" r:id="rId4"/>
    <p:sldId id="285" r:id="rId5"/>
    <p:sldId id="307" r:id="rId6"/>
    <p:sldId id="308" r:id="rId7"/>
    <p:sldId id="309" r:id="rId8"/>
    <p:sldId id="310" r:id="rId9"/>
    <p:sldId id="270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32D2D"/>
    <a:srgbClr val="D6E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CCFB6-CE2B-431B-B63B-8A0E5C47C8BE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79857-3E28-4C90-825C-C38A910FF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479857-3E28-4C90-825C-C38A910FF16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4A87B-1402-48B6-AF43-B584EF02056F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61160" y="365125"/>
            <a:ext cx="8869680" cy="671195"/>
          </a:xfrm>
        </p:spPr>
        <p:txBody>
          <a:bodyPr/>
          <a:lstStyle>
            <a:lvl1pPr algn="ctr">
              <a:defRPr b="1">
                <a:solidFill>
                  <a:srgbClr val="332D2D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37488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1131628"/>
            <a:ext cx="12192000" cy="857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0376" y="184472"/>
            <a:ext cx="11136573" cy="5874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ko-KR"/>
              <a:t>Slide main title</a:t>
            </a:r>
            <a:endParaRPr lang="ko-KR" altLang="en-US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0376" y="726527"/>
            <a:ext cx="11136573" cy="4072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ko-KR"/>
              <a:t>Slide sub title</a:t>
            </a:r>
            <a:endParaRPr lang="ko-KR" alt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0863" y="6407464"/>
            <a:ext cx="1108920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700385" y="6504441"/>
            <a:ext cx="960035" cy="178299"/>
            <a:chOff x="392324" y="1465385"/>
            <a:chExt cx="1388851" cy="567843"/>
          </a:xfrm>
        </p:grpSpPr>
        <p:sp>
          <p:nvSpPr>
            <p:cNvPr id="11" name="Rectangle 10"/>
            <p:cNvSpPr/>
            <p:nvPr/>
          </p:nvSpPr>
          <p:spPr>
            <a:xfrm>
              <a:off x="392324" y="1465385"/>
              <a:ext cx="979277" cy="5678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73444" y="1465385"/>
              <a:ext cx="117231" cy="56784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663944" y="1465385"/>
              <a:ext cx="117231" cy="56784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37771" y="6518015"/>
            <a:ext cx="602148" cy="151152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C33509E8-EDB3-4BFB-9C63-B01D176D435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11BBB-1695-42D8-9491-D28DC7CFDEA6}" type="datetimeFigureOut">
              <a:rPr lang="zh-CN" altLang="en-US" smtClean="0"/>
              <a:t>2024/7/31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6532C-EE3F-40F0-86BE-983BA5E621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3.jpeg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1"/>
          <p:cNvSpPr txBox="1"/>
          <p:nvPr/>
        </p:nvSpPr>
        <p:spPr>
          <a:xfrm>
            <a:off x="971307" y="1923757"/>
            <a:ext cx="6537325" cy="587493"/>
          </a:xfrm>
          <a:prstGeom prst="rect">
            <a:avLst/>
          </a:prstGeom>
        </p:spPr>
        <p:txBody>
          <a:bodyPr>
            <a:normAutofit fontScale="6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4400" b="1" dirty="0">
                <a:solidFill>
                  <a:schemeClr val="accent1"/>
                </a:solidFill>
              </a:rPr>
              <a:t>Loss function in object detection model</a:t>
            </a:r>
          </a:p>
        </p:txBody>
      </p:sp>
      <p:grpSp>
        <p:nvGrpSpPr>
          <p:cNvPr id="12" name="Group 7"/>
          <p:cNvGrpSpPr/>
          <p:nvPr/>
        </p:nvGrpSpPr>
        <p:grpSpPr>
          <a:xfrm>
            <a:off x="1101970" y="753515"/>
            <a:ext cx="803030" cy="776406"/>
            <a:chOff x="1101969" y="1465385"/>
            <a:chExt cx="679206" cy="567843"/>
          </a:xfrm>
          <a:solidFill>
            <a:schemeClr val="accent2"/>
          </a:solidFill>
        </p:grpSpPr>
        <p:sp>
          <p:nvSpPr>
            <p:cNvPr id="13" name="Rectangle 4"/>
            <p:cNvSpPr/>
            <p:nvPr/>
          </p:nvSpPr>
          <p:spPr>
            <a:xfrm>
              <a:off x="1101969" y="1465385"/>
              <a:ext cx="269631" cy="567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solidFill>
                  <a:schemeClr val="accent1"/>
                </a:solidFill>
              </a:endParaRPr>
            </a:p>
          </p:txBody>
        </p:sp>
        <p:sp>
          <p:nvSpPr>
            <p:cNvPr id="14" name="Rectangle 5"/>
            <p:cNvSpPr/>
            <p:nvPr/>
          </p:nvSpPr>
          <p:spPr>
            <a:xfrm>
              <a:off x="1473444" y="1465385"/>
              <a:ext cx="117231" cy="5678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solidFill>
                  <a:schemeClr val="accent1"/>
                </a:solidFill>
              </a:endParaRPr>
            </a:p>
          </p:txBody>
        </p:sp>
        <p:sp>
          <p:nvSpPr>
            <p:cNvPr id="15" name="Rectangle 6"/>
            <p:cNvSpPr/>
            <p:nvPr/>
          </p:nvSpPr>
          <p:spPr>
            <a:xfrm>
              <a:off x="1663944" y="1465385"/>
              <a:ext cx="117231" cy="56784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>
                <a:solidFill>
                  <a:schemeClr val="accent1"/>
                </a:solidFill>
              </a:endParaRPr>
            </a:p>
          </p:txBody>
        </p:sp>
      </p:grpSp>
      <p:cxnSp>
        <p:nvCxnSpPr>
          <p:cNvPr id="16" name="Straight Connector 9"/>
          <p:cNvCxnSpPr/>
          <p:nvPr/>
        </p:nvCxnSpPr>
        <p:spPr>
          <a:xfrm>
            <a:off x="1091823" y="2477365"/>
            <a:ext cx="64168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6644640" y="1522095"/>
            <a:ext cx="5494020" cy="3813810"/>
            <a:chOff x="5699760" y="2194560"/>
            <a:chExt cx="5494020" cy="3813810"/>
          </a:xfrm>
        </p:grpSpPr>
        <p:sp>
          <p:nvSpPr>
            <p:cNvPr id="3" name="矩形 2"/>
            <p:cNvSpPr/>
            <p:nvPr>
              <p:custDataLst>
                <p:tags r:id="rId2"/>
              </p:custDataLst>
            </p:nvPr>
          </p:nvSpPr>
          <p:spPr>
            <a:xfrm>
              <a:off x="6385560" y="2217420"/>
              <a:ext cx="4693920" cy="64008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6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tx1"/>
                  </a:solidFill>
                </a:rPr>
                <a:t>How Yolov5 works</a:t>
              </a:r>
              <a:endParaRPr lang="zh-CN" alt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5699760" y="2194560"/>
              <a:ext cx="685800" cy="6858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0800" h="50800"/>
            </a:sp3d>
          </p:spPr>
          <p:style>
            <a:lnRef idx="1">
              <a:schemeClr val="accent5"/>
            </a:lnRef>
            <a:fillRef idx="1001">
              <a:schemeClr val="dk2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</a:rPr>
                <a:t>1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6385560" y="3243348"/>
              <a:ext cx="4693920" cy="64008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6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tx1"/>
                  </a:solidFill>
                </a:rPr>
                <a:t>Compare BCE and CE</a:t>
              </a:r>
            </a:p>
          </p:txBody>
        </p:sp>
        <p:sp>
          <p:nvSpPr>
            <p:cNvPr id="6" name="圆角矩形 5"/>
            <p:cNvSpPr/>
            <p:nvPr>
              <p:custDataLst>
                <p:tags r:id="rId5"/>
              </p:custDataLst>
            </p:nvPr>
          </p:nvSpPr>
          <p:spPr>
            <a:xfrm>
              <a:off x="5699760" y="3220488"/>
              <a:ext cx="685800" cy="6858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0800" h="50800"/>
            </a:sp3d>
          </p:spPr>
          <p:style>
            <a:lnRef idx="1">
              <a:schemeClr val="accent5"/>
            </a:lnRef>
            <a:fillRef idx="1001">
              <a:schemeClr val="dk2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</a:rPr>
                <a:t>2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6385560" y="4314996"/>
              <a:ext cx="4693920" cy="64008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6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tx1"/>
                  </a:solidFill>
                </a:rPr>
                <a:t>Contrastive loss</a:t>
              </a:r>
            </a:p>
          </p:txBody>
        </p:sp>
        <p:sp>
          <p:nvSpPr>
            <p:cNvPr id="8" name="圆角矩形 7"/>
            <p:cNvSpPr/>
            <p:nvPr>
              <p:custDataLst>
                <p:tags r:id="rId7"/>
              </p:custDataLst>
            </p:nvPr>
          </p:nvSpPr>
          <p:spPr>
            <a:xfrm>
              <a:off x="5699760" y="4292136"/>
              <a:ext cx="685800" cy="6858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0800" h="50800"/>
            </a:sp3d>
          </p:spPr>
          <p:style>
            <a:lnRef idx="1">
              <a:schemeClr val="accent5"/>
            </a:lnRef>
            <a:fillRef idx="1001">
              <a:schemeClr val="dk2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</a:rPr>
                <a:t>3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8"/>
              </p:custDataLst>
            </p:nvPr>
          </p:nvSpPr>
          <p:spPr>
            <a:xfrm>
              <a:off x="6736080" y="5345430"/>
              <a:ext cx="4457700" cy="64008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6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tx1"/>
                  </a:solidFill>
                </a:rPr>
                <a:t>Discussion</a:t>
              </a:r>
            </a:p>
          </p:txBody>
        </p:sp>
        <p:sp>
          <p:nvSpPr>
            <p:cNvPr id="10" name="圆角矩形 9"/>
            <p:cNvSpPr/>
            <p:nvPr>
              <p:custDataLst>
                <p:tags r:id="rId9"/>
              </p:custDataLst>
            </p:nvPr>
          </p:nvSpPr>
          <p:spPr>
            <a:xfrm>
              <a:off x="5699760" y="5322570"/>
              <a:ext cx="685800" cy="6858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0800" h="50800"/>
            </a:sp3d>
          </p:spPr>
          <p:style>
            <a:lnRef idx="1">
              <a:schemeClr val="accent5"/>
            </a:lnRef>
            <a:fillRef idx="1001">
              <a:schemeClr val="dk2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</a:rPr>
                <a:t>4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676400" y="899160"/>
            <a:ext cx="6004560" cy="5059680"/>
          </a:xfrm>
          <a:prstGeom prst="rect">
            <a:avLst/>
          </a:prstGeom>
          <a:noFill/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44600" y="1495013"/>
            <a:ext cx="1661993" cy="386798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9600">
                <a:solidFill>
                  <a:schemeClr val="tx1">
                    <a:lumMod val="75000"/>
                    <a:lumOff val="25000"/>
                  </a:schemeClr>
                </a:solidFill>
              </a:rPr>
              <a:t>INDEX</a:t>
            </a:r>
            <a:endParaRPr lang="zh-CN" altLang="en-US" sz="9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Yolov5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>
                <a:latin typeface="Calibri" panose="020F0502020204030204" pitchFamily="34" charset="0"/>
              </a:rPr>
              <a:t>head and loss function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1690" y="2249170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1690" y="3181350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21690" y="4113530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5" idx="2"/>
            <a:endCxn id="6" idx="0"/>
          </p:cNvCxnSpPr>
          <p:nvPr/>
        </p:nvCxnSpPr>
        <p:spPr>
          <a:xfrm>
            <a:off x="1483995" y="2743835"/>
            <a:ext cx="0" cy="4375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2"/>
            <a:endCxn id="16" idx="0"/>
          </p:cNvCxnSpPr>
          <p:nvPr/>
        </p:nvCxnSpPr>
        <p:spPr>
          <a:xfrm>
            <a:off x="1483995" y="3676015"/>
            <a:ext cx="0" cy="4375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604895" y="2192020"/>
            <a:ext cx="1341755" cy="6089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604895" y="3120390"/>
            <a:ext cx="1341755" cy="6089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604895" y="4048760"/>
            <a:ext cx="1341755" cy="6089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5" idx="3"/>
            <a:endCxn id="19" idx="1"/>
          </p:cNvCxnSpPr>
          <p:nvPr/>
        </p:nvCxnSpPr>
        <p:spPr>
          <a:xfrm>
            <a:off x="2145665" y="2496820"/>
            <a:ext cx="14592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6" idx="3"/>
            <a:endCxn id="20" idx="1"/>
          </p:cNvCxnSpPr>
          <p:nvPr/>
        </p:nvCxnSpPr>
        <p:spPr>
          <a:xfrm flipV="1">
            <a:off x="2145665" y="3425190"/>
            <a:ext cx="1459230" cy="3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6" idx="3"/>
            <a:endCxn id="21" idx="1"/>
          </p:cNvCxnSpPr>
          <p:nvPr/>
        </p:nvCxnSpPr>
        <p:spPr>
          <a:xfrm flipV="1">
            <a:off x="2145665" y="4353560"/>
            <a:ext cx="145923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264150" y="2312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output: 20x20x(Nc + 4  +1)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264150" y="3181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output: 40x40x(Nc + 4  +1)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264150" y="4221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output: 80x80x(Nc + 4  +1)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Binary Cross Entropy loss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Box 46"/>
          <p:cNvSpPr txBox="1"/>
          <p:nvPr/>
        </p:nvSpPr>
        <p:spPr>
          <a:xfrm>
            <a:off x="1212850" y="2533035"/>
            <a:ext cx="3130550" cy="261937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sp>
        <p:nvSpPr>
          <p:cNvPr id="32" name="TextBox 61"/>
          <p:cNvSpPr txBox="1"/>
          <p:nvPr/>
        </p:nvSpPr>
        <p:spPr>
          <a:xfrm>
            <a:off x="7493000" y="4528522"/>
            <a:ext cx="3159125" cy="26035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pic>
        <p:nvPicPr>
          <p:cNvPr id="5" name="图片 4" descr="Screenshot 2024-07-29 1149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60" y="1600835"/>
            <a:ext cx="5534025" cy="154305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828800" y="323850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1828800" y="414782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sym typeface="+mn-ea"/>
                        </a:rPr>
                        <a:t>0.2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0.7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24815" y="3238500"/>
            <a:ext cx="1124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label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4815" y="405003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prediction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28800" y="5438140"/>
            <a:ext cx="7738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each bit (class/background indicator/coordinates) is calculated </a:t>
            </a:r>
            <a:r>
              <a:rPr lang="en-US" altLang="zh-CN">
                <a:solidFill>
                  <a:srgbClr val="FF0000"/>
                </a:solidFill>
              </a:rPr>
              <a:t>independently</a:t>
            </a:r>
            <a:r>
              <a:rPr lang="en-US" altLang="zh-CN"/>
              <a:t> using BCE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Yolov5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>
                <a:latin typeface="Calibri" panose="020F0502020204030204" pitchFamily="34" charset="0"/>
              </a:rPr>
              <a:t>head and loss function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0740" y="2026285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1690" y="3181350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21690" y="4113530"/>
            <a:ext cx="1323975" cy="494665"/>
          </a:xfrm>
          <a:prstGeom prst="rect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5" idx="2"/>
            <a:endCxn id="6" idx="0"/>
          </p:cNvCxnSpPr>
          <p:nvPr/>
        </p:nvCxnSpPr>
        <p:spPr>
          <a:xfrm flipH="1">
            <a:off x="1483995" y="2520950"/>
            <a:ext cx="19050" cy="660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" idx="2"/>
            <a:endCxn id="16" idx="0"/>
          </p:cNvCxnSpPr>
          <p:nvPr/>
        </p:nvCxnSpPr>
        <p:spPr>
          <a:xfrm>
            <a:off x="1483995" y="3676015"/>
            <a:ext cx="0" cy="43751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425440" y="1726565"/>
            <a:ext cx="93472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5" idx="3"/>
            <a:endCxn id="19" idx="1"/>
          </p:cNvCxnSpPr>
          <p:nvPr/>
        </p:nvCxnSpPr>
        <p:spPr>
          <a:xfrm flipV="1">
            <a:off x="2164715" y="1930400"/>
            <a:ext cx="3260725" cy="343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776085" y="1726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output: 20x20x300</a:t>
            </a:r>
          </a:p>
        </p:txBody>
      </p:sp>
      <p:sp>
        <p:nvSpPr>
          <p:cNvPr id="4" name="矩形 3"/>
          <p:cNvSpPr/>
          <p:nvPr/>
        </p:nvSpPr>
        <p:spPr>
          <a:xfrm>
            <a:off x="5435600" y="2250440"/>
            <a:ext cx="925830" cy="425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5" idx="3"/>
            <a:endCxn id="4" idx="1"/>
          </p:cNvCxnSpPr>
          <p:nvPr/>
        </p:nvCxnSpPr>
        <p:spPr>
          <a:xfrm>
            <a:off x="2164715" y="2273935"/>
            <a:ext cx="3270885" cy="189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435600" y="3021965"/>
            <a:ext cx="91567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445760" y="3578860"/>
            <a:ext cx="91567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6" idx="3"/>
            <a:endCxn id="8" idx="1"/>
          </p:cNvCxnSpPr>
          <p:nvPr/>
        </p:nvCxnSpPr>
        <p:spPr>
          <a:xfrm flipV="1">
            <a:off x="2145665" y="3225800"/>
            <a:ext cx="3289935" cy="203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9" idx="1"/>
          </p:cNvCxnSpPr>
          <p:nvPr/>
        </p:nvCxnSpPr>
        <p:spPr>
          <a:xfrm>
            <a:off x="2150745" y="3416300"/>
            <a:ext cx="3295015" cy="366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445760" y="4925060"/>
            <a:ext cx="91567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45760" y="4317365"/>
            <a:ext cx="91567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16" idx="3"/>
            <a:endCxn id="13" idx="1"/>
          </p:cNvCxnSpPr>
          <p:nvPr/>
        </p:nvCxnSpPr>
        <p:spPr>
          <a:xfrm>
            <a:off x="2145665" y="4361180"/>
            <a:ext cx="3300095" cy="160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6" idx="3"/>
            <a:endCxn id="12" idx="1"/>
          </p:cNvCxnSpPr>
          <p:nvPr/>
        </p:nvCxnSpPr>
        <p:spPr>
          <a:xfrm>
            <a:off x="2145665" y="4361180"/>
            <a:ext cx="3300095" cy="767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776085" y="2250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output: 20x20x(4+1)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Binary Cross Entropy loss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Box 46"/>
          <p:cNvSpPr txBox="1"/>
          <p:nvPr/>
        </p:nvSpPr>
        <p:spPr>
          <a:xfrm>
            <a:off x="1212850" y="2533035"/>
            <a:ext cx="3130550" cy="261937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sp>
        <p:nvSpPr>
          <p:cNvPr id="32" name="TextBox 61"/>
          <p:cNvSpPr txBox="1"/>
          <p:nvPr/>
        </p:nvSpPr>
        <p:spPr>
          <a:xfrm>
            <a:off x="7493000" y="4528522"/>
            <a:ext cx="3159125" cy="26035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704991" y="-571401"/>
            <a:ext cx="8782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>
                <a:solidFill>
                  <a:schemeClr val="bg1">
                    <a:lumMod val="65000"/>
                  </a:schemeClr>
                </a:solidFill>
              </a:rPr>
              <a:t>更多精品</a:t>
            </a:r>
            <a:r>
              <a:rPr lang="en-US" altLang="zh-CN" sz="2400">
                <a:solidFill>
                  <a:schemeClr val="bg1">
                    <a:lumMod val="65000"/>
                  </a:schemeClr>
                </a:solidFill>
              </a:rPr>
              <a:t>PPT</a:t>
            </a:r>
            <a:r>
              <a:rPr lang="zh-CN" altLang="en-US" sz="2400">
                <a:solidFill>
                  <a:schemeClr val="bg1">
                    <a:lumMod val="65000"/>
                  </a:schemeClr>
                </a:solidFill>
              </a:rPr>
              <a:t>模板下载：</a:t>
            </a:r>
            <a:r>
              <a:rPr lang="en-US" altLang="zh-CN" sz="2400">
                <a:solidFill>
                  <a:schemeClr val="bg1">
                    <a:lumMod val="65000"/>
                  </a:schemeClr>
                </a:solidFill>
              </a:rPr>
              <a:t>https://shop162430736.taobao.com</a:t>
            </a:r>
            <a:endParaRPr lang="zh-CN" altLang="en-US" sz="2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75740" y="2388235"/>
            <a:ext cx="934720" cy="407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83335" y="1905000"/>
            <a:ext cx="192341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20 x 20 x 300</a:t>
            </a:r>
          </a:p>
        </p:txBody>
      </p:sp>
      <p:sp>
        <p:nvSpPr>
          <p:cNvPr id="4" name="矩形 3"/>
          <p:cNvSpPr/>
          <p:nvPr/>
        </p:nvSpPr>
        <p:spPr>
          <a:xfrm>
            <a:off x="3825240" y="2388235"/>
            <a:ext cx="934720" cy="4070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764915" y="1905000"/>
            <a:ext cx="192341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Nc x 300</a:t>
            </a:r>
          </a:p>
        </p:txBody>
      </p:sp>
      <p:sp>
        <p:nvSpPr>
          <p:cNvPr id="12" name="矩形 11"/>
          <p:cNvSpPr/>
          <p:nvPr/>
        </p:nvSpPr>
        <p:spPr>
          <a:xfrm>
            <a:off x="2505075" y="3547745"/>
            <a:ext cx="798195" cy="80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5205" y="3204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545205" y="3331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545205" y="3458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545205" y="3585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545205" y="3712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545205" y="3839845"/>
            <a:ext cx="798195" cy="806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494530" y="3571875"/>
            <a:ext cx="18383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494530" y="3090545"/>
            <a:ext cx="194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cosine similarity</a:t>
            </a:r>
          </a:p>
        </p:txBody>
      </p:sp>
      <p:graphicFrame>
        <p:nvGraphicFramePr>
          <p:cNvPr id="23" name="表格 22"/>
          <p:cNvGraphicFramePr/>
          <p:nvPr>
            <p:custDataLst>
              <p:tags r:id="rId2"/>
            </p:custDataLst>
          </p:nvPr>
        </p:nvGraphicFramePr>
        <p:xfrm>
          <a:off x="6544310" y="2152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437630" y="1819910"/>
            <a:ext cx="192341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1 x Nc</a:t>
            </a:r>
          </a:p>
        </p:txBody>
      </p:sp>
      <p:graphicFrame>
        <p:nvGraphicFramePr>
          <p:cNvPr id="26" name="表格 25"/>
          <p:cNvGraphicFramePr/>
          <p:nvPr>
            <p:custDataLst>
              <p:tags r:id="rId3"/>
            </p:custDataLst>
          </p:nvPr>
        </p:nvGraphicFramePr>
        <p:xfrm>
          <a:off x="6671310" y="2279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/>
          <p:nvPr>
            <p:custDataLst>
              <p:tags r:id="rId4"/>
            </p:custDataLst>
          </p:nvPr>
        </p:nvGraphicFramePr>
        <p:xfrm>
          <a:off x="6798310" y="2406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/>
          <p:nvPr>
            <p:custDataLst>
              <p:tags r:id="rId5"/>
            </p:custDataLst>
          </p:nvPr>
        </p:nvGraphicFramePr>
        <p:xfrm>
          <a:off x="6925310" y="2533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/>
          <p:nvPr>
            <p:custDataLst>
              <p:tags r:id="rId6"/>
            </p:custDataLst>
          </p:nvPr>
        </p:nvGraphicFramePr>
        <p:xfrm>
          <a:off x="7052310" y="2660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/>
          <p:nvPr>
            <p:custDataLst>
              <p:tags r:id="rId7"/>
            </p:custDataLst>
          </p:nvPr>
        </p:nvGraphicFramePr>
        <p:xfrm>
          <a:off x="7179310" y="2787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/>
          <p:nvPr>
            <p:custDataLst>
              <p:tags r:id="rId8"/>
            </p:custDataLst>
          </p:nvPr>
        </p:nvGraphicFramePr>
        <p:xfrm>
          <a:off x="7306310" y="2914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/>
          <p:nvPr>
            <p:custDataLst>
              <p:tags r:id="rId9"/>
            </p:custDataLst>
          </p:nvPr>
        </p:nvGraphicFramePr>
        <p:xfrm>
          <a:off x="7433310" y="3041015"/>
          <a:ext cx="562610" cy="258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-1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1">
                          <a:solidFill>
                            <a:schemeClr val="lt1"/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5" name="直接箭头连接符 34"/>
          <p:cNvCxnSpPr/>
          <p:nvPr/>
        </p:nvCxnSpPr>
        <p:spPr>
          <a:xfrm>
            <a:off x="7363460" y="2087245"/>
            <a:ext cx="1009650" cy="989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7975600" y="2176780"/>
            <a:ext cx="192341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400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Loss in the paper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TextBox 61"/>
          <p:cNvSpPr txBox="1"/>
          <p:nvPr/>
        </p:nvSpPr>
        <p:spPr>
          <a:xfrm>
            <a:off x="7493000" y="4528522"/>
            <a:ext cx="3159125" cy="26035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pic>
        <p:nvPicPr>
          <p:cNvPr id="6" name="图片 5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15" y="4401184"/>
            <a:ext cx="6498718" cy="151498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29715" y="1425575"/>
            <a:ext cx="52406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“</a:t>
            </a:r>
            <a:r>
              <a:rPr lang="zh-CN" altLang="en-US" sz="1200"/>
              <a:t>Contrastive Object Detection Using Knowledge Graph Embeddings</a:t>
            </a:r>
            <a:r>
              <a:rPr lang="en-US" altLang="zh-CN" sz="1200"/>
              <a:t>”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29715" y="4017645"/>
            <a:ext cx="699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“</a:t>
            </a:r>
            <a:r>
              <a:rPr lang="zh-CN" altLang="en-US" sz="1200"/>
              <a:t>ASimple Framework for Contrastive Learning of Visual Representations</a:t>
            </a:r>
            <a:r>
              <a:rPr lang="en-US" altLang="zh-CN" sz="1200"/>
              <a:t>”</a:t>
            </a:r>
          </a:p>
        </p:txBody>
      </p:sp>
      <p:pic>
        <p:nvPicPr>
          <p:cNvPr id="4" name="Picture 3" descr="A math equation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E0657FF0-2862-22FA-3424-ABBBFFE8A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322" y="1993100"/>
            <a:ext cx="7228571" cy="1314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7500"/>
          </a:bodyPr>
          <a:lstStyle/>
          <a:p>
            <a:r>
              <a:rPr lang="en-US" altLang="ko-KR"/>
              <a:t>Discussion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509E8-EDB3-4BFB-9C63-B01D176D4351}" type="slidenum">
              <a:rPr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fld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TextBox 61"/>
          <p:cNvSpPr txBox="1"/>
          <p:nvPr/>
        </p:nvSpPr>
        <p:spPr>
          <a:xfrm>
            <a:off x="7493000" y="4528522"/>
            <a:ext cx="3159125" cy="26035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50" dirty="0">
                <a:solidFill>
                  <a:schemeClr val="bg1"/>
                </a:solidFill>
                <a:latin typeface="Hiragino Sans GB W3" panose="020B0300000000000000" pitchFamily="34" charset="-122"/>
                <a:ea typeface="Hiragino Sans GB W3" panose="020B0300000000000000" pitchFamily="34" charset="-122"/>
              </a:rPr>
              <a:t>This text can be replaced with your own text.</a:t>
            </a:r>
            <a:endParaRPr lang="zh-CN" altLang="en-US" sz="1050" dirty="0">
              <a:solidFill>
                <a:schemeClr val="bg1"/>
              </a:solidFill>
              <a:latin typeface="Hiragino Sans GB W3" panose="020B0300000000000000" pitchFamily="34" charset="-122"/>
              <a:ea typeface="Hiragino Sans GB W3" panose="020B03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6920" y="2049780"/>
            <a:ext cx="111340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Binary Cross-Entropy (BCE) Loss:</a:t>
            </a:r>
            <a:r>
              <a:rPr lang="en-US" altLang="zh-CN" b="1"/>
              <a:t>                                   My opinion: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Treats each class independently</a:t>
            </a:r>
            <a:r>
              <a:rPr lang="en-US" altLang="zh-CN"/>
              <a:t>			         Good for background image</a:t>
            </a:r>
            <a:endParaRPr lang="zh-CN" altLang="en-US"/>
          </a:p>
          <a:p>
            <a:r>
              <a:rPr lang="zh-CN" altLang="en-US"/>
              <a:t>Assumes classes are not mutually exclusive</a:t>
            </a:r>
            <a:r>
              <a:rPr lang="en-US" altLang="zh-CN"/>
              <a:t>                     more flexible                </a:t>
            </a:r>
            <a:endParaRPr lang="zh-CN" altLang="en-US"/>
          </a:p>
          <a:p>
            <a:r>
              <a:rPr lang="zh-CN" altLang="en-US"/>
              <a:t>Better for multi-label classification</a:t>
            </a:r>
            <a:r>
              <a:rPr lang="en-US" altLang="zh-CN"/>
              <a:t>                                   not sure if it works for KGEs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b="1"/>
              <a:t>General Cross-Entropy (CE) Loss:</a:t>
            </a:r>
          </a:p>
          <a:p>
            <a:endParaRPr lang="zh-CN" altLang="en-US"/>
          </a:p>
          <a:p>
            <a:r>
              <a:rPr lang="zh-CN" altLang="en-US"/>
              <a:t>Considers all classes simultaneously</a:t>
            </a:r>
          </a:p>
          <a:p>
            <a:r>
              <a:rPr lang="zh-CN" altLang="en-US"/>
              <a:t>Assumes classes are mutually exclusive</a:t>
            </a:r>
          </a:p>
          <a:p>
            <a:r>
              <a:rPr lang="zh-CN" altLang="en-US"/>
              <a:t>Better for single-label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1"/>
          <p:cNvSpPr txBox="1"/>
          <p:nvPr/>
        </p:nvSpPr>
        <p:spPr>
          <a:xfrm>
            <a:off x="1331643" y="1635646"/>
            <a:ext cx="2951748" cy="58291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3600" b="1">
                <a:solidFill>
                  <a:schemeClr val="accent1"/>
                </a:solidFill>
              </a:rPr>
              <a:t>THANK YOU</a:t>
            </a:r>
            <a:endParaRPr lang="ko-KR" altLang="en-US" sz="3600" b="1">
              <a:solidFill>
                <a:schemeClr val="accent1"/>
              </a:solidFill>
            </a:endParaRPr>
          </a:p>
        </p:txBody>
      </p:sp>
      <p:cxnSp>
        <p:nvCxnSpPr>
          <p:cNvPr id="11" name="Straight Connector 3"/>
          <p:cNvCxnSpPr/>
          <p:nvPr/>
        </p:nvCxnSpPr>
        <p:spPr>
          <a:xfrm>
            <a:off x="1432005" y="2224448"/>
            <a:ext cx="37971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4"/>
          <p:cNvGrpSpPr/>
          <p:nvPr/>
        </p:nvGrpSpPr>
        <p:grpSpPr>
          <a:xfrm>
            <a:off x="1432005" y="1082279"/>
            <a:ext cx="469497" cy="453931"/>
            <a:chOff x="1101969" y="1465385"/>
            <a:chExt cx="679206" cy="567843"/>
          </a:xfrm>
          <a:solidFill>
            <a:schemeClr val="accent1"/>
          </a:solidFill>
        </p:grpSpPr>
        <p:sp>
          <p:nvSpPr>
            <p:cNvPr id="13" name="Rectangle 5"/>
            <p:cNvSpPr/>
            <p:nvPr/>
          </p:nvSpPr>
          <p:spPr>
            <a:xfrm>
              <a:off x="1101969" y="1465385"/>
              <a:ext cx="269631" cy="5678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14" name="Rectangle 6"/>
            <p:cNvSpPr/>
            <p:nvPr/>
          </p:nvSpPr>
          <p:spPr>
            <a:xfrm>
              <a:off x="1473444" y="1465385"/>
              <a:ext cx="117231" cy="5678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15" name="Rectangle 7"/>
            <p:cNvSpPr/>
            <p:nvPr/>
          </p:nvSpPr>
          <p:spPr>
            <a:xfrm>
              <a:off x="1663944" y="1465385"/>
              <a:ext cx="117231" cy="56784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hkY2RhOTRkM2JhM2QzZjRlYjg1NzZiZjc3NmJjZ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0.3,&quot;left&quot;:523.2,&quot;top&quot;:119.85,&quot;width&quot;:432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tktxvcs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*203"/>
  <p:tag name="TABLE_ENDDRAG_RECT" val="515*188*44*203"/>
</p:tagLst>
</file>

<file path=ppt/theme/theme1.xml><?xml version="1.0" encoding="utf-8"?>
<a:theme xmlns:a="http://schemas.openxmlformats.org/drawingml/2006/main" name="Office 主题">
  <a:themeElements>
    <a:clrScheme name="046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63BE"/>
      </a:accent1>
      <a:accent2>
        <a:srgbClr val="0178D9"/>
      </a:accent2>
      <a:accent3>
        <a:srgbClr val="3688F7"/>
      </a:accent3>
      <a:accent4>
        <a:srgbClr val="47A1FE"/>
      </a:accent4>
      <a:accent5>
        <a:srgbClr val="6EB8FF"/>
      </a:accent5>
      <a:accent6>
        <a:srgbClr val="9FD2FF"/>
      </a:accent6>
      <a:hlink>
        <a:srgbClr val="F59E00"/>
      </a:hlink>
      <a:folHlink>
        <a:srgbClr val="B2B2B2"/>
      </a:folHlink>
    </a:clrScheme>
    <a:fontScheme name="微软雅黑">
      <a:majorFont>
        <a:latin typeface="微软雅黑"/>
        <a:ea typeface="Microsoft YaHei UI"/>
        <a:cs typeface=""/>
      </a:majorFont>
      <a:minorFont>
        <a:latin typeface="微软雅黑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</Words>
  <Application>Microsoft Office PowerPoint</Application>
  <PresentationFormat>Widescreen</PresentationFormat>
  <Paragraphs>120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Hiragino Sans GB W3</vt:lpstr>
      <vt:lpstr>微软雅黑</vt:lpstr>
      <vt:lpstr>Arial</vt:lpstr>
      <vt:lpstr>Calibri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锐旗设计；https://9ppt.taobao.com</cp:keywords>
  <cp:lastModifiedBy>Dizhao Jiang</cp:lastModifiedBy>
  <cp:revision>230</cp:revision>
  <dcterms:created xsi:type="dcterms:W3CDTF">2015-12-24T07:33:00Z</dcterms:created>
  <dcterms:modified xsi:type="dcterms:W3CDTF">2024-07-31T06:00:15Z</dcterms:modified>
  <cp:category>锐旗设计；https://9ppt.taobao.com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E8C3DAE8D9FF437A9087B03EA3E193CE_12</vt:lpwstr>
  </property>
  <property fmtid="{D5CDD505-2E9C-101B-9397-08002B2CF9AE}" pid="3" name="KSOProductBuildVer">
    <vt:lpwstr>2052-12.1.0.16929</vt:lpwstr>
  </property>
</Properties>
</file>